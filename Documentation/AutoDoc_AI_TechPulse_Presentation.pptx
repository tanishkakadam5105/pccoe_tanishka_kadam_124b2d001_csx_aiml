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6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6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20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91440" cy="6858000"/>
          </a:xfrm>
          <a:prstGeom prst="rect">
            <a:avLst/>
          </a:prstGeom>
          <a:solidFill>
            <a:srgbClr val="E189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960120"/>
            <a:ext cx="10515600" cy="45720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1500" b="1">
                <a:solidFill>
                  <a:srgbClr val="ADD8E6"/>
                </a:solidFill>
                <a:latin typeface="Aptos"/>
              </a:defRPr>
            </a:pPr>
            <a:r>
              <a:t>TATA TECHNOLOGIES TECHPULSE FY-26  |  AI/ML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74519"/>
            <a:ext cx="10607040" cy="105156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4200" b="1">
                <a:solidFill>
                  <a:srgbClr val="FFFFFF"/>
                </a:solidFill>
                <a:latin typeface="Aptos"/>
              </a:defRPr>
            </a:pPr>
            <a:r>
              <a:t>AutoDoc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2880360"/>
            <a:ext cx="10515600" cy="82296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2500" b="0">
                <a:solidFill>
                  <a:srgbClr val="FFFFFF"/>
                </a:solidFill>
                <a:latin typeface="Aptos"/>
              </a:defRPr>
            </a:pPr>
            <a:r>
              <a:t>AUTOSAR HLD Document Analysis Assistant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069080"/>
            <a:ext cx="9966960" cy="7772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1900" b="0">
                <a:solidFill>
                  <a:srgbClr val="DCE6F0"/>
                </a:solidFill>
                <a:latin typeface="Aptos"/>
              </a:defRPr>
            </a:pPr>
            <a:r>
              <a:t>Case Study CS1  •  Document-grounded question answering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623560"/>
            <a:ext cx="10424160" cy="45720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1500" b="0">
                <a:solidFill>
                  <a:srgbClr val="FFFFFF"/>
                </a:solidFill>
                <a:latin typeface="Aptos"/>
              </a:defRPr>
            </a:pPr>
            <a:r>
              <a:t>Tanishka Kadam  |  B.Tech. Computer Engineering  |  PCCOE, Pune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46520"/>
            <a:ext cx="411480" cy="1828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r">
              <a:defRPr sz="1000" b="0">
                <a:solidFill>
                  <a:srgbClr val="C8D2E1"/>
                </a:solidFill>
                <a:latin typeface="Aptos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2800" b="1">
                <a:solidFill>
                  <a:srgbClr val="182038"/>
                </a:solidFill>
                <a:latin typeface="Aptos"/>
              </a:defRPr>
            </a:pPr>
            <a:r>
              <a:t>1. 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60120"/>
            <a:ext cx="868680" cy="54864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881360" cy="4114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1300" b="0">
                <a:solidFill>
                  <a:srgbClr val="5F6976"/>
                </a:solidFill>
                <a:latin typeface="Aptos"/>
              </a:defRPr>
            </a:pPr>
            <a:r>
              <a:t>Why this case matters in automotive software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92240"/>
            <a:ext cx="411480" cy="1828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r">
              <a:defRPr sz="1000" b="0">
                <a:solidFill>
                  <a:srgbClr val="5F6976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5303520" cy="3474720"/>
          </a:xfrm>
          <a:prstGeom prst="roundRect">
            <a:avLst/>
          </a:prstGeom>
          <a:solidFill>
            <a:srgbClr val="EFF5FA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" y="1856231"/>
            <a:ext cx="4983480" cy="347472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1700" b="1">
                <a:solidFill>
                  <a:srgbClr val="2A5D96"/>
                </a:solidFill>
                <a:latin typeface="Aptos"/>
              </a:defRPr>
            </a:pPr>
            <a:r>
              <a:t>The challenge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2267712"/>
            <a:ext cx="4983480" cy="1530985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1400" b="0">
                <a:solidFill>
                  <a:srgbClr val="282F3A"/>
                </a:solidFill>
                <a:latin typeface="Aptos"/>
              </a:defRPr>
            </a:pPr>
            <a:r>
              <a:rPr sz="1800"/>
              <a:t>Automotive High-Level Design (HLD) documents can be lengthy and technical. Engineers may need to find component responsibilities, interfaces, signals, dependencies, and system flows across pages.</a:t>
            </a:r>
            <a:endParaRPr sz="1800"/>
          </a:p>
        </p:txBody>
      </p:sp>
      <p:sp>
        <p:nvSpPr>
          <p:cNvPr id="9" name="Rounded Rectangle 8"/>
          <p:cNvSpPr/>
          <p:nvPr/>
        </p:nvSpPr>
        <p:spPr>
          <a:xfrm>
            <a:off x="6263640" y="1737360"/>
            <a:ext cx="5257800" cy="3474720"/>
          </a:xfrm>
          <a:prstGeom prst="roundRect">
            <a:avLst/>
          </a:prstGeom>
          <a:solidFill>
            <a:srgbClr val="EFF5FA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28231" y="1856231"/>
            <a:ext cx="4937760" cy="347472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1700" b="1">
                <a:solidFill>
                  <a:srgbClr val="E18934"/>
                </a:solidFill>
                <a:latin typeface="Aptos"/>
              </a:defRPr>
            </a:pPr>
            <a:r>
              <a:t>The pain point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28231" y="2267712"/>
            <a:ext cx="4937760" cy="125349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1400" b="0">
                <a:solidFill>
                  <a:srgbClr val="282F3A"/>
                </a:solidFill>
                <a:latin typeface="Aptos"/>
              </a:defRPr>
            </a:pPr>
            <a:r>
              <a:rPr sz="1800"/>
              <a:t>Manual searching takes time, keyword search can miss semantically related wording, and answers without traceable evidence are difficult to verify.</a:t>
            </a:r>
            <a:endParaRPr sz="1800"/>
          </a:p>
        </p:txBody>
      </p:sp>
      <p:sp>
        <p:nvSpPr>
          <p:cNvPr id="12" name="TextBox 11"/>
          <p:cNvSpPr txBox="1"/>
          <p:nvPr/>
        </p:nvSpPr>
        <p:spPr>
          <a:xfrm>
            <a:off x="777240" y="5623560"/>
            <a:ext cx="10789920" cy="5029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defRPr sz="2100" b="1">
                <a:solidFill>
                  <a:srgbClr val="182038"/>
                </a:solidFill>
                <a:latin typeface="Aptos"/>
              </a:defRPr>
            </a:pPr>
            <a:r>
              <a:t>Need: faster document exploration with answers linked back to source pages.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2800" b="1">
                <a:solidFill>
                  <a:srgbClr val="182038"/>
                </a:solidFill>
                <a:latin typeface="Aptos"/>
              </a:defRPr>
            </a:pPr>
            <a:r>
              <a:t>2. Objectives and Motivation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60120"/>
            <a:ext cx="868680" cy="54864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881360" cy="4114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1300" b="0">
                <a:solidFill>
                  <a:srgbClr val="5F6976"/>
                </a:solidFill>
                <a:latin typeface="Aptos"/>
              </a:defRPr>
            </a:pPr>
            <a:r>
              <a:t>A focused, explainable prototype—not an autonomous engineering decision-maker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92240"/>
            <a:ext cx="411480" cy="1828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r">
              <a:defRPr sz="1000" b="0">
                <a:solidFill>
                  <a:srgbClr val="5F6976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6492240" cy="420624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282F3A"/>
                </a:solidFill>
                <a:latin typeface="Aptos"/>
              </a:defRPr>
            </a:pPr>
            <a:r>
              <a:t>Allow a user to upload an HLD PDF and ask natural-language questions.</a:t>
            </a:r>
          </a:p>
          <a:p>
            <a:pPr>
              <a:spcAft>
                <a:spcPts val="900"/>
              </a:spcAft>
              <a:defRPr sz="1800">
                <a:solidFill>
                  <a:srgbClr val="282F3A"/>
                </a:solidFill>
                <a:latin typeface="Aptos"/>
              </a:defRPr>
            </a:pPr>
            <a:r>
              <a:t>Extract text while preserving page information for traceability.</a:t>
            </a:r>
          </a:p>
          <a:p>
            <a:pPr>
              <a:spcAft>
                <a:spcPts val="900"/>
              </a:spcAft>
              <a:defRPr sz="1800">
                <a:solidFill>
                  <a:srgbClr val="282F3A"/>
                </a:solidFill>
                <a:latin typeface="Aptos"/>
              </a:defRPr>
            </a:pPr>
            <a:r>
              <a:t>Retrieve relevant passages using semantic similarity.</a:t>
            </a:r>
          </a:p>
          <a:p>
            <a:pPr>
              <a:spcAft>
                <a:spcPts val="900"/>
              </a:spcAft>
              <a:defRPr sz="1800">
                <a:solidFill>
                  <a:srgbClr val="282F3A"/>
                </a:solidFill>
                <a:latin typeface="Aptos"/>
              </a:defRPr>
            </a:pPr>
            <a:r>
              <a:t>Generate an answer grounded in retrieved passages and show source-page references.</a:t>
            </a:r>
          </a:p>
          <a:p>
            <a:pPr>
              <a:spcAft>
                <a:spcPts val="900"/>
              </a:spcAft>
              <a:defRPr sz="1800">
                <a:solidFill>
                  <a:srgbClr val="282F3A"/>
                </a:solidFill>
                <a:latin typeface="Aptos"/>
              </a:defRPr>
            </a:pPr>
            <a:r>
              <a:t>Encourage verification and avoid claiming support when evidence is missing.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35240" y="1828800"/>
            <a:ext cx="3657600" cy="3246120"/>
          </a:xfrm>
          <a:prstGeom prst="roundRect">
            <a:avLst/>
          </a:prstGeom>
          <a:solidFill>
            <a:srgbClr val="EFF5FA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99831" y="1947672"/>
            <a:ext cx="3337560" cy="347472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1700" b="1">
                <a:solidFill>
                  <a:srgbClr val="008787"/>
                </a:solidFill>
                <a:latin typeface="Aptos"/>
              </a:defRPr>
            </a:pPr>
            <a:r>
              <a:t>Why I chose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99831" y="2359152"/>
            <a:ext cx="3337560" cy="2624327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1400" b="0">
                <a:solidFill>
                  <a:srgbClr val="282F3A"/>
                </a:solidFill>
                <a:latin typeface="Aptos"/>
              </a:defRPr>
            </a:pPr>
            <a:r>
              <a:t>It connects AI/ML with a practical engineering workflow: reduce time spent searching technical documents while keeping evidence visible to the user.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806440"/>
            <a:ext cx="10515600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1500" b="0">
                <a:solidFill>
                  <a:srgbClr val="5F6976"/>
                </a:solidFill>
                <a:latin typeface="Aptos"/>
              </a:defRPr>
            </a:pPr>
            <a:r>
              <a:t>Primary users: engineers, reviewers, and students exploring automotive design documents.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2800" b="1">
                <a:solidFill>
                  <a:srgbClr val="182038"/>
                </a:solidFill>
                <a:latin typeface="Aptos"/>
              </a:defRPr>
            </a:pPr>
            <a:r>
              <a:t>3. Proposed Solution and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60120"/>
            <a:ext cx="868680" cy="54864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881360" cy="4114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1300" b="0">
                <a:solidFill>
                  <a:srgbClr val="5F6976"/>
                </a:solidFill>
                <a:latin typeface="Aptos"/>
              </a:defRPr>
            </a:pPr>
            <a:r>
              <a:t>Retrieval-Augmented Generation (RAG)-style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92240"/>
            <a:ext cx="411480" cy="1828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r">
              <a:defRPr sz="1000" b="0">
                <a:solidFill>
                  <a:srgbClr val="5F6976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828800"/>
            <a:ext cx="3520440" cy="1234440"/>
          </a:xfrm>
          <a:prstGeom prst="roundRect">
            <a:avLst/>
          </a:prstGeom>
          <a:solidFill>
            <a:srgbClr val="EFF5FA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947672"/>
            <a:ext cx="3200400" cy="347472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1700" b="1">
                <a:solidFill>
                  <a:srgbClr val="008787"/>
                </a:solidFill>
                <a:latin typeface="Aptos"/>
              </a:defRPr>
            </a:pPr>
            <a:r>
              <a:t>1. Upload PDF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359152"/>
            <a:ext cx="3200400" cy="61264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1400" b="0">
                <a:solidFill>
                  <a:srgbClr val="282F3A"/>
                </a:solidFill>
                <a:latin typeface="Aptos"/>
              </a:defRPr>
            </a:pPr>
            <a:r>
              <a:t>Streamlit UI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828800"/>
            <a:ext cx="3520440" cy="1234440"/>
          </a:xfrm>
          <a:prstGeom prst="roundRect">
            <a:avLst/>
          </a:prstGeom>
          <a:solidFill>
            <a:srgbClr val="EFF5FA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9431" y="1947672"/>
            <a:ext cx="3200400" cy="347472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1700" b="1">
                <a:solidFill>
                  <a:srgbClr val="2A5D96"/>
                </a:solidFill>
                <a:latin typeface="Aptos"/>
              </a:defRPr>
            </a:pPr>
            <a:r>
              <a:t>2. Extract text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9431" y="2359152"/>
            <a:ext cx="3200400" cy="61264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1400" b="0">
                <a:solidFill>
                  <a:srgbClr val="282F3A"/>
                </a:solidFill>
                <a:latin typeface="Aptos"/>
              </a:defRPr>
            </a:pPr>
            <a:r>
              <a:t>PyMuPDF + page metadata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1828800"/>
            <a:ext cx="3520440" cy="1234440"/>
          </a:xfrm>
          <a:prstGeom prst="roundRect">
            <a:avLst/>
          </a:prstGeom>
          <a:solidFill>
            <a:srgbClr val="EFF5FA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947672"/>
            <a:ext cx="3200400" cy="347472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1700" b="1">
                <a:solidFill>
                  <a:srgbClr val="008787"/>
                </a:solidFill>
                <a:latin typeface="Aptos"/>
              </a:defRPr>
            </a:pPr>
            <a:r>
              <a:t>3. Chunk &amp; embed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39912" y="2359152"/>
            <a:ext cx="3200400" cy="61264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1400" b="0">
                <a:solidFill>
                  <a:srgbClr val="282F3A"/>
                </a:solidFill>
                <a:latin typeface="Aptos"/>
              </a:defRPr>
            </a:pPr>
            <a:r>
              <a:t>all-MiniLM-L6-v2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703320"/>
            <a:ext cx="3520440" cy="1234440"/>
          </a:xfrm>
          <a:prstGeom prst="roundRect">
            <a:avLst/>
          </a:prstGeom>
          <a:solidFill>
            <a:srgbClr val="EFF5FA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" y="3822191"/>
            <a:ext cx="3200400" cy="347472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1700" b="1">
                <a:solidFill>
                  <a:srgbClr val="2A5D96"/>
                </a:solidFill>
                <a:latin typeface="Aptos"/>
              </a:defRPr>
            </a:pPr>
            <a:r>
              <a:t>4. Retrieve passages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" y="4233672"/>
            <a:ext cx="3200400" cy="61264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1400" b="0">
                <a:solidFill>
                  <a:srgbClr val="282F3A"/>
                </a:solidFill>
                <a:latin typeface="Aptos"/>
              </a:defRPr>
            </a:pPr>
            <a:r>
              <a:t>ChromaDB semantic search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34840" y="3703320"/>
            <a:ext cx="3520440" cy="1234440"/>
          </a:xfrm>
          <a:prstGeom prst="roundRect">
            <a:avLst/>
          </a:prstGeom>
          <a:solidFill>
            <a:srgbClr val="EFF5FA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99431" y="3822191"/>
            <a:ext cx="3200400" cy="347472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1700" b="1">
                <a:solidFill>
                  <a:srgbClr val="008787"/>
                </a:solidFill>
                <a:latin typeface="Aptos"/>
              </a:defRPr>
            </a:pPr>
            <a:r>
              <a:t>5. Generate answer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99431" y="4233672"/>
            <a:ext cx="3200400" cy="61264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1400" b="0">
                <a:solidFill>
                  <a:srgbClr val="282F3A"/>
                </a:solidFill>
                <a:latin typeface="Aptos"/>
              </a:defRPr>
            </a:pPr>
            <a:r>
              <a:t>Gemini API + evidence prompt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75320" y="3703320"/>
            <a:ext cx="3520440" cy="1234440"/>
          </a:xfrm>
          <a:prstGeom prst="roundRect">
            <a:avLst/>
          </a:prstGeom>
          <a:solidFill>
            <a:srgbClr val="EFF5FA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39912" y="3822191"/>
            <a:ext cx="3200400" cy="347472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1700" b="1">
                <a:solidFill>
                  <a:srgbClr val="2A5D96"/>
                </a:solidFill>
                <a:latin typeface="Aptos"/>
              </a:defRPr>
            </a:pPr>
            <a:r>
              <a:t>6. Display result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39912" y="4233672"/>
            <a:ext cx="3200400" cy="61264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1400" b="0">
                <a:solidFill>
                  <a:srgbClr val="282F3A"/>
                </a:solidFill>
                <a:latin typeface="Aptos"/>
              </a:defRPr>
            </a:pPr>
            <a:r>
              <a:t>Answer + source pages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806440"/>
            <a:ext cx="10789920" cy="36576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defRPr sz="1600" b="1">
                <a:solidFill>
                  <a:srgbClr val="182038"/>
                </a:solidFill>
                <a:latin typeface="Aptos"/>
              </a:defRPr>
            </a:pPr>
            <a:r>
              <a:t>Key principle: retrieve first, answer from evidence, then show where the evidence came from.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2800" b="1">
                <a:solidFill>
                  <a:srgbClr val="182038"/>
                </a:solidFill>
                <a:latin typeface="Aptos"/>
              </a:defRPr>
            </a:pPr>
            <a:r>
              <a:t>4. What I Built for CS1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60120"/>
            <a:ext cx="868680" cy="54864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881360" cy="4114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1300" b="0">
                <a:solidFill>
                  <a:srgbClr val="5F6976"/>
                </a:solidFill>
                <a:latin typeface="Aptos"/>
              </a:defRPr>
            </a:pPr>
            <a:r>
              <a:t>Working prototype and the input used for the demonstration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92240"/>
            <a:ext cx="411480" cy="1828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r">
              <a:defRPr sz="1000" b="0">
                <a:solidFill>
                  <a:srgbClr val="5F6976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3520440" cy="3429000"/>
          </a:xfrm>
          <a:prstGeom prst="roundRect">
            <a:avLst/>
          </a:prstGeom>
          <a:solidFill>
            <a:srgbClr val="EFF5FA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" y="1810512"/>
            <a:ext cx="3200400" cy="347472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1700" b="1">
                <a:solidFill>
                  <a:srgbClr val="2A5D96"/>
                </a:solidFill>
                <a:latin typeface="Aptos"/>
              </a:defRPr>
            </a:pPr>
            <a:r>
              <a:t>Interface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2221992"/>
            <a:ext cx="3200400" cy="280720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1400" b="0">
                <a:solidFill>
                  <a:srgbClr val="282F3A"/>
                </a:solidFill>
                <a:latin typeface="Aptos"/>
              </a:defRPr>
            </a:pPr>
            <a:r>
              <a:t>A local Streamlit dashboard to upload a PDF, enter a question, and inspect the generated response and source references.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691640"/>
            <a:ext cx="3520440" cy="3429000"/>
          </a:xfrm>
          <a:prstGeom prst="roundRect">
            <a:avLst/>
          </a:prstGeom>
          <a:solidFill>
            <a:srgbClr val="EFF5FA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07992" y="1810512"/>
            <a:ext cx="3200400" cy="347472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1700" b="1">
                <a:solidFill>
                  <a:srgbClr val="008787"/>
                </a:solidFill>
                <a:latin typeface="Aptos"/>
              </a:defRPr>
            </a:pPr>
            <a:r>
              <a:t>Knowledge source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07992" y="2221992"/>
            <a:ext cx="3200400" cy="280720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1400" b="0">
                <a:solidFill>
                  <a:srgbClr val="282F3A"/>
                </a:solidFill>
                <a:latin typeface="Aptos"/>
              </a:defRPr>
            </a:pPr>
            <a:r>
              <a:t>A 3-page synthetic educational automotive HLD about an obstacle-detection and automatic-braking support system.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691640"/>
            <a:ext cx="3520440" cy="3429000"/>
          </a:xfrm>
          <a:prstGeom prst="roundRect">
            <a:avLst/>
          </a:prstGeom>
          <a:solidFill>
            <a:srgbClr val="EFF5FA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11312" y="1810512"/>
            <a:ext cx="3200400" cy="347472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1700" b="1">
                <a:solidFill>
                  <a:srgbClr val="E18934"/>
                </a:solidFill>
                <a:latin typeface="Aptos"/>
              </a:defRPr>
            </a:pPr>
            <a:r>
              <a:t>Technology stack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11312" y="2221992"/>
            <a:ext cx="3200400" cy="280720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1400" b="0">
                <a:solidFill>
                  <a:srgbClr val="282F3A"/>
                </a:solidFill>
                <a:latin typeface="Aptos"/>
              </a:defRPr>
            </a:pPr>
            <a:r>
              <a:t>Python • Streamlit • PyMuPDF • Sentence Transformers • ChromaDB • Google Gemini 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532120"/>
            <a:ext cx="10698480" cy="59436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defRPr sz="1500" b="1">
                <a:solidFill>
                  <a:srgbClr val="5F6976"/>
                </a:solidFill>
                <a:latin typeface="Aptos"/>
              </a:defRPr>
            </a:pPr>
            <a:r>
              <a:t>Scope note: the sample is synthetic—not an official AUTOSAR/OEM specification and not safety-validated.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2800" b="1">
                <a:solidFill>
                  <a:srgbClr val="182038"/>
                </a:solidFill>
                <a:latin typeface="Aptos"/>
              </a:defRPr>
            </a:pPr>
            <a:r>
              <a:t>5. Initial Evaluation and Limitations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60120"/>
            <a:ext cx="868680" cy="54864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881360" cy="4114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1300" b="0">
                <a:solidFill>
                  <a:srgbClr val="5F6976"/>
                </a:solidFill>
                <a:latin typeface="Aptos"/>
              </a:defRPr>
            </a:pPr>
            <a:r>
              <a:t>Report the result honestly and avoid overclaiming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92240"/>
            <a:ext cx="411480" cy="1828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r">
              <a:defRPr sz="1000" b="0">
                <a:solidFill>
                  <a:srgbClr val="5F6976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91640"/>
            <a:ext cx="3383280" cy="2232660"/>
          </a:xfrm>
          <a:prstGeom prst="roundRect">
            <a:avLst/>
          </a:prstGeom>
          <a:solidFill>
            <a:srgbClr val="EFF5FA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810512"/>
            <a:ext cx="3063240" cy="347472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1700" b="1">
                <a:solidFill>
                  <a:srgbClr val="008787"/>
                </a:solidFill>
                <a:latin typeface="Aptos"/>
              </a:defRPr>
            </a:pPr>
            <a:r>
              <a:t>Initial result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265" y="2221865"/>
            <a:ext cx="3063240" cy="1207135"/>
          </a:xfrm>
          <a:prstGeom prst="rect">
            <a:avLst/>
          </a:prstGeom>
          <a:noFill/>
        </p:spPr>
        <p:txBody>
          <a:bodyPr wrap="square" lIns="73152" tIns="73152" rIns="73152" bIns="73152">
            <a:noAutofit/>
          </a:bodyPr>
          <a:lstStyle/>
          <a:p>
            <a:pPr>
              <a:defRPr sz="1400" b="0">
                <a:solidFill>
                  <a:srgbClr val="282F3A"/>
                </a:solidFill>
                <a:latin typeface="Aptos"/>
              </a:defRPr>
            </a:pPr>
            <a:r>
              <a:t>5 of 5 predefined questions produced the expected answers on the small synthetic sample.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91640"/>
            <a:ext cx="3383280" cy="2265680"/>
          </a:xfrm>
          <a:prstGeom prst="roundRect">
            <a:avLst/>
          </a:prstGeom>
          <a:solidFill>
            <a:srgbClr val="EFF5FA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53712" y="1810512"/>
            <a:ext cx="3063240" cy="347472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1700" b="1">
                <a:solidFill>
                  <a:srgbClr val="2A5D96"/>
                </a:solidFill>
                <a:latin typeface="Aptos"/>
              </a:defRPr>
            </a:pPr>
            <a:r>
              <a:t>What this shows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3712" y="2221992"/>
            <a:ext cx="3063240" cy="271576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1400" b="0">
                <a:solidFill>
                  <a:srgbClr val="282F3A"/>
                </a:solidFill>
                <a:latin typeface="Aptos"/>
              </a:defRPr>
            </a:pPr>
            <a:r>
              <a:t>The end-to-end workflow works for these tested examples: retrieval, answer generation, and source-page display.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691640"/>
            <a:ext cx="3383280" cy="2275205"/>
          </a:xfrm>
          <a:prstGeom prst="roundRect">
            <a:avLst/>
          </a:prstGeom>
          <a:solidFill>
            <a:srgbClr val="EFF5FA"/>
          </a:solidFill>
          <a:ln>
            <a:solidFill>
              <a:srgbClr val="DA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57031" y="1810512"/>
            <a:ext cx="3063240" cy="347472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1700" b="1">
                <a:solidFill>
                  <a:srgbClr val="E18934"/>
                </a:solidFill>
                <a:latin typeface="Aptos"/>
              </a:defRPr>
            </a:pPr>
            <a:r>
              <a:t>What it does not prove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57031" y="2221992"/>
            <a:ext cx="3063240" cy="271576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1400" b="0">
                <a:solidFill>
                  <a:srgbClr val="282F3A"/>
                </a:solidFill>
                <a:latin typeface="Aptos"/>
              </a:defRPr>
            </a:pPr>
            <a:r>
              <a:t>General accuracy, citation precision, production readiness, or suitability for safety-critical automotive decisions.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601210"/>
            <a:ext cx="10698480" cy="5486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>
              <a:defRPr sz="1600" b="1">
                <a:solidFill>
                  <a:srgbClr val="182038"/>
                </a:solidFill>
                <a:latin typeface="Aptos"/>
              </a:defRPr>
            </a:pPr>
            <a:r>
              <a:t>Next evaluation: more documents, larger ground-truth question sets, retrieval metrics, and manual citation checks.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20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2900" b="1">
                <a:solidFill>
                  <a:srgbClr val="FFFFFF"/>
                </a:solidFill>
                <a:latin typeface="Aptos"/>
              </a:defRPr>
            </a:pPr>
            <a:r>
              <a:t>6. Conclusion and Future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749808" y="1143000"/>
            <a:ext cx="868680" cy="54864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600200"/>
            <a:ext cx="10241280" cy="3429000"/>
          </a:xfrm>
          <a:prstGeom prst="rect">
            <a:avLst/>
          </a:prstGeom>
          <a:noFill/>
        </p:spPr>
        <p:txBody>
          <a:bodyPr wrap="square" lIns="73152" rIns="73152" bIns="27432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AutoDoc AI demonstrates document-grounded Q&amp;A over an automotive HLD PDF.</a:t>
            </a:r>
          </a:p>
          <a:p>
            <a:pPr>
              <a:spcAft>
                <a:spcPts val="13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Semantic retrieval helps find passages beyond exact keyword matching.</a:t>
            </a:r>
          </a:p>
          <a:p>
            <a:pPr>
              <a:spcAft>
                <a:spcPts val="13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Page references help users verify answers against the source.</a:t>
            </a:r>
          </a:p>
          <a:p>
            <a:pPr>
              <a:spcAft>
                <a:spcPts val="13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Future work: test more authorized HLDs, improve retrieval/citation evaluation, add OCR for scanned PDFs, and strengthen error handling.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5623560"/>
            <a:ext cx="10241280" cy="5029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defRPr sz="2000" b="1">
                <a:solidFill>
                  <a:srgbClr val="ADD8E6"/>
                </a:solidFill>
                <a:latin typeface="Aptos"/>
              </a:defRPr>
            </a:pPr>
            <a:r>
              <a:t>Thank you — I will now demonstrate the live Streamlit application.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46520"/>
            <a:ext cx="411480" cy="1828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r">
              <a:defRPr sz="1000" b="0">
                <a:solidFill>
                  <a:srgbClr val="C8D2E1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3384</Words>
  <Application>WPS Presentation</Application>
  <PresentationFormat>On-screen Show (4:3)</PresentationFormat>
  <Paragraphs>129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7" baseType="lpstr">
      <vt:lpstr>Arial</vt:lpstr>
      <vt:lpstr>SimSun</vt:lpstr>
      <vt:lpstr>Wingdings</vt:lpstr>
      <vt:lpstr>Arial</vt:lpstr>
      <vt:lpstr>Aptos</vt:lpstr>
      <vt:lpstr>Segoe UI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Prajwal</cp:lastModifiedBy>
  <cp:revision>2</cp:revision>
  <dcterms:created xsi:type="dcterms:W3CDTF">2013-01-27T09:14:00Z</dcterms:created>
  <dcterms:modified xsi:type="dcterms:W3CDTF">2026-10-14T07:43:01Z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9E6C6F17BCDD434391A3381D55551C8F_12</vt:lpwstr>
  </property>
  <property fmtid="{D5CDD505-2E9C-101B-9397-08002B2CF9AE}" pid="3" name="KSOProductBuildVer">
    <vt:lpwstr>1033-12.1.0.28485</vt:lpwstr>
  </property>
</Properties>
</file>